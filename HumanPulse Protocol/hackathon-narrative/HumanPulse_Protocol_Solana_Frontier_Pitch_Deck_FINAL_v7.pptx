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SOLANA FRONTIER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HumanPulse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Privacy-first Proof of Unique Humanity infrastructure for Solana.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F5F8FC"/>
                </a:solidFill>
              </a:defRPr>
            </a:pPr>
            <a:r>
              <a:t>HumanPulse proves the presence of a unique living human at a specific moment in time — instantly, privately, and on-chain.</a:t>
            </a:r>
          </a:p>
          <a:p>
            <a:pPr>
              <a:defRPr sz="1050">
                <a:solidFill>
                  <a:srgbClr val="9AAABE"/>
                </a:solidFill>
              </a:defRPr>
            </a:pPr>
            <a:r>
              <a:t>MVP focus: Sybil resistance for DAOs, airdrops, and token launches</a:t>
            </a:r>
          </a:p>
          <a:p>
            <a:pPr>
              <a:defRPr sz="1050">
                <a:solidFill>
                  <a:srgbClr val="9AAABE"/>
                </a:solidFill>
              </a:defRPr>
            </a:pPr>
            <a:r>
              <a:t>Current implementation: webcam-based liveness, challenge-response, Solana Devnet token, and Anchor burn-on-use</a:t>
            </a:r>
          </a:p>
          <a:p>
            <a:pPr>
              <a:defRPr sz="1050">
                <a:solidFill>
                  <a:srgbClr val="9AAABE"/>
                </a:solidFill>
              </a:defRPr>
            </a:pPr>
            <a:r>
              <a:t>Positioning: protocol-grade uniqueness layer, not a centralized KYC provider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251960"/>
            <a:ext cx="2011680" cy="365760"/>
          </a:xfrm>
          <a:prstGeom prst="roundRect">
            <a:avLst/>
          </a:prstGeom>
          <a:solidFill>
            <a:srgbClr val="0A1F33"/>
          </a:solidFill>
          <a:ln w="1397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BC42"/>
                </a:solidFill>
              </a:defRPr>
            </a:pPr>
            <a:r>
              <a:t>Hackathon MVP • Solana Devnet</a:t>
            </a:r>
          </a:p>
        </p:txBody>
      </p:sp>
      <p:pic>
        <p:nvPicPr>
          <p:cNvPr id="8" name="Picture 7" descr="17778003502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518754"/>
            <a:ext cx="6025896" cy="3363290"/>
          </a:xfrm>
          <a:prstGeom prst="rect">
            <a:avLst/>
          </a:prstGeom>
        </p:spPr>
      </p:pic>
      <p:pic>
        <p:nvPicPr>
          <p:cNvPr id="9" name="Picture 8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The internet cannot tell humans from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This creates a growing attack surface for airdrops, DAO governance, token launches, and identity-sensitive consumer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1417320" cy="713232"/>
          </a:xfrm>
          <a:prstGeom prst="roundRect">
            <a:avLst/>
          </a:prstGeom>
          <a:solidFill>
            <a:srgbClr val="081929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>
              <a:defRPr sz="1900" b="1">
                <a:solidFill>
                  <a:srgbClr val="F87171"/>
                </a:solidFill>
              </a:defRPr>
            </a:pPr>
            <a:r>
              <a:t>$52B</a:t>
            </a:r>
          </a:p>
          <a:p>
            <a:pPr>
              <a:defRPr sz="950">
                <a:solidFill>
                  <a:srgbClr val="9AAABE"/>
                </a:solidFill>
              </a:defRPr>
            </a:pPr>
            <a:r>
              <a:t>digital identity fraud losses in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1325880"/>
            <a:ext cx="1417320" cy="713232"/>
          </a:xfrm>
          <a:prstGeom prst="roundRect">
            <a:avLst/>
          </a:prstGeom>
          <a:solidFill>
            <a:srgbClr val="081929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>
              <a:defRPr sz="1900" b="1">
                <a:solidFill>
                  <a:srgbClr val="FACC15"/>
                </a:solidFill>
              </a:defRPr>
            </a:pPr>
            <a:r>
              <a:t>800K+</a:t>
            </a:r>
          </a:p>
          <a:p>
            <a:pPr>
              <a:defRPr sz="950">
                <a:solidFill>
                  <a:srgbClr val="9AAABE"/>
                </a:solidFill>
              </a:defRPr>
            </a:pPr>
            <a:r>
              <a:t>Sybil wallets identified in one large airdrop 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25880"/>
            <a:ext cx="1417320" cy="713232"/>
          </a:xfrm>
          <a:prstGeom prst="roundRect">
            <a:avLst/>
          </a:prstGeom>
          <a:solidFill>
            <a:srgbClr val="081929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>
              <a:defRPr sz="1900" b="1">
                <a:solidFill>
                  <a:srgbClr val="22D3EE"/>
                </a:solidFill>
              </a:defRPr>
            </a:pPr>
            <a:r>
              <a:t>Today</a:t>
            </a:r>
          </a:p>
          <a:p>
            <a:pPr>
              <a:defRPr sz="950">
                <a:solidFill>
                  <a:srgbClr val="9AAABE"/>
                </a:solidFill>
              </a:defRPr>
            </a:pPr>
            <a:r>
              <a:t>CAPTCHAs, passwords, and weak liveness are breaking 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097280"/>
            <a:ext cx="5166360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77732562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349" y="1133856"/>
            <a:ext cx="5029581" cy="28072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1480" y="27432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Centralized identity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Introduces custody, friction, and privacy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7432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Weak anti-bot tools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Generic CAPTCHAs and static checks are increasingly bypassable.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432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Missing primitive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Crypto lacks a neutral, privacy-aware proof of human presence.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69080"/>
            <a:ext cx="5897880" cy="960120"/>
          </a:xfrm>
          <a:prstGeom prst="roundRect">
            <a:avLst>
              <a:gd name="adj" fmla="val 12000"/>
            </a:avLst>
          </a:prstGeom>
          <a:solidFill>
            <a:srgbClr val="081929"/>
          </a:solidFill>
          <a:ln w="1270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BC42"/>
                </a:solidFill>
              </a:defRPr>
            </a:pPr>
            <a:r>
              <a:t>What HumanPulse is designed to do</a:t>
            </a:r>
          </a:p>
          <a:p>
            <a:pPr algn="l">
              <a:spcBef>
                <a:spcPts val="400"/>
              </a:spcBef>
              <a:defRPr sz="1000">
                <a:solidFill>
                  <a:srgbClr val="F5F8FC"/>
                </a:solidFill>
              </a:defRPr>
            </a:pPr>
            <a:r>
              <a:t>Significantly increase the cost of Sybil attacks while minimizing the amount of personal data required.</a:t>
            </a:r>
          </a:p>
        </p:txBody>
      </p:sp>
      <p:pic>
        <p:nvPicPr>
          <p:cNvPr id="15" name="Picture 14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What HumanPulse proves in one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protocol combines live presence checks, an unpredictable challenge, and on-chain proof consumption in a low-friction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1. Live human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Webcam-based liveness checks that a live person is present now.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308860.0"/>
            <a:ext cx="91440" cy="0.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hevron 7"/>
          <p:cNvSpPr/>
          <p:nvPr/>
        </p:nvSpPr>
        <p:spPr>
          <a:xfrm>
            <a:off x="3026664" y="2235708"/>
            <a:ext cx="128016" cy="146304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2. Challenge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user responds to a real-time unpredictable prompt.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2308860.0"/>
            <a:ext cx="91440" cy="0.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5769864" y="2235708"/>
            <a:ext cx="128016" cy="146304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3. Proof consumed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result is turned into a proof interaction that can be consumed on-chain.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2308860.0"/>
            <a:ext cx="91440" cy="0.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8513064" y="2235708"/>
            <a:ext cx="128016" cy="146304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4. Use on Solana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An application gates access, voting, or eligibility using the proof.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No biometric database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HumanPulse is intended to avoid storing raw biometric data on-chain or creating a centralized biometric vault.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Privacy-first UX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complexity of proof generation is hidden from the user; the goal is fast verification with minimal disclosure.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65760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Built for crypto use cases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Primary MVP use cases are DAO voting, airdrop eligibility, anti-bot gating, and token launch protection.</a:t>
            </a:r>
          </a:p>
        </p:txBody>
      </p:sp>
      <p:pic>
        <p:nvPicPr>
          <p:cNvPr id="19" name="Picture 18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CURRENT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What we built for the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current implementation demonstrates a practical HumanPulse flow on Solana Devnet. It is an MVP, not a fully production-hardened identity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Webcam-based liveness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Current MVP verification begins with live webcam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0020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Challenge-response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An unpredictable prompt raises the attack cost for spoofing.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60020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Solana Devnet $HPP token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Devnet token used inside the current proof consumption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92608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Anchor burn-on-use program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On-chain burn logic demonstrates consumption of a verification primitive.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2608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Live demo / widget</a:t>
            </a:r>
          </a:p>
          <a:p>
            <a:pPr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Challenge-response flow plus real Solana Devnet proof-consumption transaction.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92608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Public artifacts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Technical whitepaper, demo video, figures, and pitch deck.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611880" cy="2350008"/>
          </a:xfrm>
          <a:prstGeom prst="roundRect">
            <a:avLst>
              <a:gd name="adj" fmla="val 12000"/>
            </a:avLst>
          </a:prstGeom>
          <a:solidFill>
            <a:srgbClr val="081929"/>
          </a:solidFill>
          <a:ln w="1270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BC42"/>
                </a:solidFill>
              </a:defRPr>
            </a:pPr>
            <a:r>
              <a:t>Scope discipline for judges</a:t>
            </a:r>
          </a:p>
          <a:p>
            <a:pPr>
              <a:spcBef>
                <a:spcPts val="400"/>
              </a:spcBef>
              <a:defRPr sz="890">
                <a:solidFill>
                  <a:srgbClr val="F5F8FC"/>
                </a:solidFill>
              </a:defRPr>
            </a:pPr>
            <a:r>
              <a:t>Current MVP / hackathon implementation:</a:t>
            </a:r>
            <a:br/>
            <a:r>
              <a:t>• Sybil resistance for DAOs, airdrops, and token launches</a:t>
            </a:r>
            <a:br/>
            <a:r>
              <a:t>• Webcam-based liveness and challenge-response</a:t>
            </a:r>
            <a:br/>
            <a:r>
              <a:t>• Live Solana Devnet proof-consumption transaction</a:t>
            </a:r>
            <a:br/>
            <a:r>
              <a:t>• Devnet $HPP token and Anchor burn-on-use program</a:t>
            </a:r>
            <a:br/>
            <a:br/>
            <a:r>
              <a:t>Technical roadmap and optional research modules are not represented as fully implemented.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389120"/>
            <a:ext cx="11201400" cy="5943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50" b="1">
                <a:solidFill>
                  <a:srgbClr val="F5F8FC"/>
                </a:solidFill>
              </a:defRPr>
            </a:pPr>
            <a:r>
              <a:t>Hackathon deliverable</a:t>
            </a:r>
          </a:p>
          <a:p>
            <a:pPr>
              <a:spcBef>
                <a:spcPts val="300"/>
              </a:spcBef>
              <a:defRPr sz="930">
                <a:solidFill>
                  <a:srgbClr val="9AAABE"/>
                </a:solidFill>
              </a:defRPr>
            </a:pPr>
            <a:r>
              <a:t>A working demonstration of proof-of-human gating on Solana Devnet, including a live proof-consumption transaction, demo site, video, repository, and whitepaper.</a:t>
            </a:r>
          </a:p>
        </p:txBody>
      </p:sp>
      <p:pic>
        <p:nvPicPr>
          <p:cNvPr id="14" name="Picture 13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sz="2000"/>
              <a:t>Start with the highest-urgency wedge: Sybil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rPr sz="950"/>
              <a:t>HumanPulse begins where the pain is immediate: incentive-heavy systems where fake or duplicated participation distorts outcomes.</a:t>
            </a:r>
          </a:p>
        </p:txBody>
      </p:sp>
      <p:pic>
        <p:nvPicPr>
          <p:cNvPr id="6" name="Picture 5" descr="1777733543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668780"/>
            <a:ext cx="5431536" cy="2962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52704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Initial wedge</a:t>
            </a:r>
          </a:p>
          <a:p>
            <a:pPr algn="l">
              <a:spcBef>
                <a:spcPts val="400"/>
              </a:spcBef>
              <a:defRPr sz="940">
                <a:solidFill>
                  <a:srgbClr val="9AAABE"/>
                </a:solidFill>
              </a:defRPr>
            </a:pPr>
            <a:r>
              <a:t>DAO voting, airdrops, token launches, and anti-bot gating are the clearest near-term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2432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Why it matters</a:t>
            </a:r>
          </a:p>
          <a:p>
            <a:pPr algn="l">
              <a:spcBef>
                <a:spcPts val="400"/>
              </a:spcBef>
              <a:defRPr sz="940">
                <a:solidFill>
                  <a:srgbClr val="9AAABE"/>
                </a:solidFill>
              </a:defRPr>
            </a:pPr>
            <a:r>
              <a:t>A uniqueness layer can reduce false participation, improve fairness, and make incentive programs harder to game.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2160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Longer-term direction</a:t>
            </a:r>
          </a:p>
          <a:p>
            <a:pPr algn="l">
              <a:spcBef>
                <a:spcPts val="400"/>
              </a:spcBef>
              <a:defRPr sz="940">
                <a:solidFill>
                  <a:srgbClr val="9AAABE"/>
                </a:solidFill>
              </a:defRPr>
            </a:pPr>
            <a:r>
              <a:t>If the primitive is strong enough, the same network can support broader identity-sensitive consumer and governance flows.</a:t>
            </a:r>
          </a:p>
        </p:txBody>
      </p:sp>
      <p:pic>
        <p:nvPicPr>
          <p:cNvPr id="10" name="Picture 9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HumanPulse architecture: three layers, one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protocol design combines liveness, challenge-response, and proof generation into a stacked uniqueness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143000"/>
            <a:ext cx="4846320" cy="4160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le_00000000127071f49eb64a8f88e51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156" y="1179576"/>
            <a:ext cx="4087368" cy="4087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1417320"/>
            <a:ext cx="5577840" cy="987552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1. Liveness detection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protocol begins by measuring whether a live human is present. The MVP demonstrates webcam-based liveness; richer signal layers appear in the roadmap.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06040"/>
            <a:ext cx="5577840" cy="987552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2. Challenge-response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A live challenge introduces unpredictability and makes replay or pre-rendered spoofing more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94760"/>
            <a:ext cx="5577840" cy="1170432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3. Proof layer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whitepaper’s protocol direction culminates in zero-knowledge proof generation. The current MVP demonstrates the consumption side of the primitive on Solana Devnet.</a:t>
            </a:r>
          </a:p>
        </p:txBody>
      </p:sp>
      <p:pic>
        <p:nvPicPr>
          <p:cNvPr id="11" name="Picture 10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Privacy is an architectural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HumanPulse is intended to prove human presence without turning the protocol into a biometric data honeypot.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No raw biometrics on-chain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On-chain logic consumes proof outcomes, not raw face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87168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Temporary processing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The protocol direction minimizes persistent exposure of sensitive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557016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Proof, not identity disclosure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The target primitive is uniqueness verification, not full identity revelation.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626864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Research roadmap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Recursive zk-STARK aggregation, TEEs, and local proof generation are roadmap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8046720" cy="4343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777732687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214" y="1380744"/>
            <a:ext cx="7761732" cy="4233672"/>
          </a:xfrm>
          <a:prstGeom prst="rect">
            <a:avLst/>
          </a:prstGeom>
        </p:spPr>
      </p:pic>
      <p:pic>
        <p:nvPicPr>
          <p:cNvPr id="12" name="Picture 11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v7.2. Research modules shown here are roadmap elements, not all current MVP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SOLANA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Why Solana is the right execution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current MVP uses Solana Devnet and an Anchor program to show how a uniqueness primitive can be consumed in a fast, low-cost on-chain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Low-cost interactions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Frequent verification usage requires inexpensive on-chain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6304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Fast finality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Consumer-facing gating flows benefit from quick confirmation.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6304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Programmable token logic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The burn-on-use pattern is implemented via an Anchor program on Devnet.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78892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Composable applications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DAO voting, access control, launches, and rewards can all plug into the same primitive.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78892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Developer fit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Anchor and Solana tooling make it practical to build an MVP quickly and clearly.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8892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Current on-chain artifacts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Devnet program: D9tRQi8n...Q5B5N</a:t>
            </a:r>
            <a:br/>
            <a:r>
              <a:t>Devnet $HPP token: EsBZKfFm...ZSnR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343400"/>
            <a:ext cx="10469880" cy="731520"/>
          </a:xfrm>
          <a:prstGeom prst="roundRect">
            <a:avLst>
              <a:gd name="adj" fmla="val 12000"/>
            </a:avLst>
          </a:prstGeom>
          <a:solidFill>
            <a:srgbClr val="081929"/>
          </a:solidFill>
          <a:ln w="1270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50" b="1">
                <a:solidFill>
                  <a:srgbClr val="F5BC42"/>
                </a:solidFill>
              </a:defRPr>
            </a:pPr>
            <a:r>
              <a:t>MVP implementation</a:t>
            </a:r>
          </a:p>
          <a:p>
            <a:pPr>
              <a:spcBef>
                <a:spcPts val="300"/>
              </a:spcBef>
              <a:defRPr sz="869">
                <a:solidFill>
                  <a:srgbClr val="F5F8FC"/>
                </a:solidFill>
              </a:defRPr>
            </a:pPr>
            <a:r>
              <a:t>Current MVP: Solana Devnet proof-consumption transaction + Devnet $HPP token + Anchor burn-on-use program + demo website/widget. Roadmap: stronger proof aggregation, validator / aggregator architecture, and expanded privacy-preserving proof flows.</a:t>
            </a:r>
          </a:p>
        </p:txBody>
      </p:sp>
      <p:pic>
        <p:nvPicPr>
          <p:cNvPr id="13" name="Picture 12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ON-CHAIN 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A usage-driven $HPP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whitepaper frames $HPP as a network primitive tied to proof usage. The current MVP demonstrates the burn-on-use concept on Solana Devnet.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Proof consumption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Verification is meant to be used, not merely held. Burn-on-use aligns token mechanics with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651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MVP scope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The Devnet implementation demonstrates the mechanism; it is not presented as finalized production token economics.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94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Longer-term design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Broader token distribution, reserve structure, and network incentives follow governance and protocol maturation.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234440"/>
            <a:ext cx="7543800" cy="4434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777321584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419398"/>
            <a:ext cx="7452360" cy="4064923"/>
          </a:xfrm>
          <a:prstGeom prst="rect">
            <a:avLst/>
          </a:prstGeom>
        </p:spPr>
      </p:pic>
      <p:pic>
        <p:nvPicPr>
          <p:cNvPr id="11" name="Picture 10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v7.2. Token structure shown is from the current protocol narrative and should be interpreted with roadmap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sz="2100"/>
              <a:t>From wedge to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418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rPr sz="930"/>
              <a:t>HumanPulse starts with anti-Sybil applications, but the long-term opportunity is a neutral uniqueness layer that can compound across digital ecosystems.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99616"/>
            <a:ext cx="5303520" cy="29718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77734570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4039"/>
            <a:ext cx="5212080" cy="2842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80760" y="1499616"/>
            <a:ext cx="5669280" cy="297180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777733208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778" y="1517904"/>
            <a:ext cx="5381244" cy="29352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645152"/>
            <a:ext cx="3657600" cy="74980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70" b="1">
                <a:solidFill>
                  <a:srgbClr val="F5F8FC"/>
                </a:solidFill>
              </a:defRPr>
            </a:pPr>
            <a:r>
              <a:t>Near-term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Sybil-resistant DAO, airdrop, and token launch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645152"/>
            <a:ext cx="3520440" cy="74980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70" b="1">
                <a:solidFill>
                  <a:srgbClr val="F5F8FC"/>
                </a:solidFill>
              </a:defRPr>
            </a:pPr>
            <a:r>
              <a:t>Mid-term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Wallets, exchanges, social applications, and consumer gating.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645152"/>
            <a:ext cx="3657600" cy="74980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70" b="1">
                <a:solidFill>
                  <a:srgbClr val="F5F8FC"/>
                </a:solidFill>
              </a:defRPr>
            </a:pPr>
            <a:r>
              <a:t>Long-term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A protocol-grade uniqueness layer for the AI era.</a:t>
            </a:r>
          </a:p>
        </p:txBody>
      </p:sp>
      <p:pic>
        <p:nvPicPr>
          <p:cNvPr id="13" name="Picture 12" descr="file_0000000040b4724390b9cadad728e1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sz="2000" b="1">
                <a:solidFill>
                  <a:srgbClr val="F5F8FC"/>
                </a:solidFill>
              </a:rPr>
              <a:t>From hackathon MVP to protocol-grade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rPr sz="1000">
                <a:solidFill>
                  <a:srgbClr val="9AAABE"/>
                </a:solidFill>
              </a:rPr>
              <a:t>The roadmap separates near-term protocol hardening from optional research modules that may increase robustness over time.</a:t>
            </a:r>
          </a:p>
        </p:txBody>
      </p:sp>
      <p:pic>
        <p:nvPicPr>
          <p:cNvPr id="6" name="Picture 5" descr="17777336559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99719"/>
            <a:ext cx="5660136" cy="31591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536192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Near-term buildout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Validator / aggregator layer, stronger proof pipeline, deeper integrations, and production-oriented hardening.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24912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Research modules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Recursive zk-STARK aggregation, TEE-based local proof generation, LiDAR photonics, pupillary reflex, micro-expression analysis, and multi-device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913632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Message to judges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hackathon MVP demonstrates the direction clearly today. The roadmap shows how the protocol can evolve without overstating current implementation status.</a:t>
            </a:r>
          </a:p>
        </p:txBody>
      </p:sp>
      <p:pic>
        <p:nvPicPr>
          <p:cNvPr id="10" name="Picture 9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Prove humanity. Preserve privacy. Build on Solana.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HumanPulse is designed to provide a privacy-first proof of unique human presence for the AI 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GitHub Repository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github.com/humanpulseprotocol/HumanPulse-Protocol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63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Live Website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humanpulse-landing.vercel.app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06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Demo Video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humanpulse-landing.vercel.app/HumanPulse-demo.mp4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606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Technical Whitepaper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github.com/humanpulseprotocol/HumanPulse-Protocol/blob/main/HumanPulse%20Protocol/whitepaper/HumanPulse_Technical_Whitepaper_v7.2_FINAL.pdf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49039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Solana Devnet Program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explorer.solana.com/address/D9tRQi8nZzARTJZXTmSsy4hrx4BwKUNPezKzayvQ5B5N?cluster=devnet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749039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$HPP Token on Devnet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explorer.solana.com/address/EsBZKfFmhVAypmVm6QmenevZ56XZQZUjYF8CLzVnZSnR?cluster=devnet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892040"/>
            <a:ext cx="9204960" cy="900000"/>
          </a:xfrm>
          <a:prstGeom prst="roundRect">
            <a:avLst/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480" y="5022040"/>
            <a:ext cx="8754960" cy="680000"/>
          </a:xfrm>
          <a:prstGeom prst="rect">
            <a:avLst/>
          </a:prstGeom>
          <a:noFill/>
          <a:ln>
            <a:noFill/>
          </a:ln>
        </p:spPr>
        <p:txBody>
          <a:bodyPr wrap="none" lIns="50800" rIns="5080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5F8FC"/>
                </a:solidFill>
              </a:defRPr>
            </a:pPr>
            <a:r>
              <a:rPr sz="1800" b="1">
                <a:solidFill>
                  <a:srgbClr val="F3F6FA"/>
                </a:solidFill>
                <a:latin typeface="Aptos"/>
              </a:rPr>
              <a:t>Example Devnet proof-consumption transaction: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8D1FF"/>
                </a:solidFill>
                <a:latin typeface="Aptos"/>
              </a:rPr>
              <a:t>explorer.solana.com/tx/24rntJEHewfqhya5qum4zy9JRCmghYvbgUvNXHAXqZSdujgz5vNzY7KzPaT91YvY1u9AriGGvEP8ugxJaC3PyjLu?cluster=devnet</a:t>
            </a:r>
          </a:p>
        </p:txBody>
      </p:sp>
      <p:pic>
        <p:nvPicPr>
          <p:cNvPr id="13" name="Picture 12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754880"/>
            <a:ext cx="1005840" cy="1005840"/>
          </a:xfrm>
          <a:prstGeom prst="rect">
            <a:avLst/>
          </a:prstGeom>
        </p:spPr>
      </p:pic>
      <p:pic>
        <p:nvPicPr>
          <p:cNvPr id="14" name="Picture 13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Official links shown here reflect the current MVP packaging for Solana Frontier Hackathon.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